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56" r:id="rId5"/>
    <p:sldId id="302" r:id="rId6"/>
    <p:sldId id="286" r:id="rId7"/>
    <p:sldId id="258" r:id="rId8"/>
    <p:sldId id="287" r:id="rId9"/>
    <p:sldId id="298" r:id="rId10"/>
    <p:sldId id="288" r:id="rId11"/>
    <p:sldId id="289" r:id="rId12"/>
    <p:sldId id="295" r:id="rId13"/>
    <p:sldId id="296" r:id="rId14"/>
    <p:sldId id="294" r:id="rId15"/>
    <p:sldId id="297" r:id="rId16"/>
    <p:sldId id="300" r:id="rId17"/>
    <p:sldId id="299" r:id="rId18"/>
    <p:sldId id="301" r:id="rId19"/>
    <p:sldId id="26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710" y="53"/>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5/15/2026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5/15/2026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761488" y="2395728"/>
            <a:ext cx="8725662" cy="1243584"/>
          </a:xfrm>
        </p:spPr>
        <p:txBody>
          <a:bodyPr/>
          <a:lstStyle/>
          <a:p>
            <a:r>
              <a:rPr lang="en-US" dirty="0"/>
              <a:t>HR Attrition Analytics</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p:txBody>
          <a:bodyPr/>
          <a:lstStyle/>
          <a:p>
            <a:pPr marL="0" indent="0">
              <a:buNone/>
            </a:pPr>
            <a:r>
              <a:rPr lang="en-US" dirty="0"/>
              <a:t>Strategic Workforce Insights</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ECC7008-1857-FF65-6C9B-1BCEBFD8ACB0}"/>
              </a:ext>
            </a:extLst>
          </p:cNvPr>
          <p:cNvSpPr>
            <a:spLocks noGrp="1"/>
          </p:cNvSpPr>
          <p:nvPr>
            <p:ph type="title"/>
          </p:nvPr>
        </p:nvSpPr>
        <p:spPr>
          <a:xfrm>
            <a:off x="444500" y="542925"/>
            <a:ext cx="11214100" cy="701731"/>
          </a:xfrm>
        </p:spPr>
        <p:txBody>
          <a:bodyPr/>
          <a:lstStyle/>
          <a:p>
            <a:pPr algn="ctr"/>
            <a:r>
              <a:rPr lang="en-US" sz="4400" dirty="0"/>
              <a:t>Work Team</a:t>
            </a:r>
          </a:p>
        </p:txBody>
      </p:sp>
      <p:sp>
        <p:nvSpPr>
          <p:cNvPr id="3" name="Slide Number Placeholder 2">
            <a:extLst>
              <a:ext uri="{FF2B5EF4-FFF2-40B4-BE49-F238E27FC236}">
                <a16:creationId xmlns:a16="http://schemas.microsoft.com/office/drawing/2014/main" id="{405F2D7E-F9E7-6696-D94E-04B4D9FCC473}"/>
              </a:ext>
            </a:extLst>
          </p:cNvPr>
          <p:cNvSpPr>
            <a:spLocks noGrp="1"/>
          </p:cNvSpPr>
          <p:nvPr>
            <p:ph type="sldNum" sz="quarter" idx="12"/>
          </p:nvPr>
        </p:nvSpPr>
        <p:spPr/>
        <p:txBody>
          <a:bodyPr/>
          <a:lstStyle/>
          <a:p>
            <a:fld id="{C263D6C4-4840-40CC-AC84-17E24B3B7BDE}" type="slidenum">
              <a:rPr lang="en-US" noProof="0" smtClean="0"/>
              <a:pPr/>
              <a:t>2</a:t>
            </a:fld>
            <a:endParaRPr lang="en-US" noProof="0" dirty="0"/>
          </a:p>
        </p:txBody>
      </p:sp>
      <p:sp>
        <p:nvSpPr>
          <p:cNvPr id="6" name="Text Placeholder 5">
            <a:extLst>
              <a:ext uri="{FF2B5EF4-FFF2-40B4-BE49-F238E27FC236}">
                <a16:creationId xmlns:a16="http://schemas.microsoft.com/office/drawing/2014/main" id="{CDA2A282-2441-96C4-47BD-D574AD07380A}"/>
              </a:ext>
            </a:extLst>
          </p:cNvPr>
          <p:cNvSpPr>
            <a:spLocks noGrp="1"/>
          </p:cNvSpPr>
          <p:nvPr>
            <p:ph type="body" sz="quarter" idx="13"/>
          </p:nvPr>
        </p:nvSpPr>
        <p:spPr>
          <a:xfrm>
            <a:off x="1409700" y="1063769"/>
            <a:ext cx="9372600" cy="3917805"/>
          </a:xfrm>
        </p:spPr>
        <p:txBody>
          <a:bodyPr>
            <a:normAutofit/>
          </a:bodyPr>
          <a:lstStyle/>
          <a:p>
            <a:pPr marL="571500" indent="-571500" algn="l">
              <a:buFont typeface="+mj-lt"/>
              <a:buAutoNum type="arabicParenR"/>
            </a:pPr>
            <a:r>
              <a:rPr lang="en-US" sz="2800" dirty="0"/>
              <a:t>Donya Tawfik</a:t>
            </a:r>
          </a:p>
          <a:p>
            <a:pPr marL="571500" indent="-571500" algn="l">
              <a:buFont typeface="+mj-lt"/>
              <a:buAutoNum type="arabicParenR"/>
            </a:pPr>
            <a:r>
              <a:rPr lang="en-US" sz="2800" dirty="0"/>
              <a:t>Maher Gamal</a:t>
            </a:r>
          </a:p>
          <a:p>
            <a:pPr marL="571500" indent="-571500" algn="l">
              <a:buFont typeface="+mj-lt"/>
              <a:buAutoNum type="arabicParenR"/>
            </a:pPr>
            <a:r>
              <a:rPr lang="en-US" sz="2800" dirty="0"/>
              <a:t>Mohammed Abdel Hady</a:t>
            </a:r>
          </a:p>
          <a:p>
            <a:pPr marL="571500" indent="-571500" algn="l">
              <a:buFont typeface="+mj-lt"/>
              <a:buAutoNum type="arabicParenR"/>
            </a:pPr>
            <a:r>
              <a:rPr lang="en-US" sz="2800" dirty="0"/>
              <a:t>Mustafa Zaky</a:t>
            </a:r>
          </a:p>
          <a:p>
            <a:pPr marL="571500" indent="-571500" algn="l">
              <a:buFont typeface="+mj-lt"/>
              <a:buAutoNum type="arabicParenR"/>
            </a:pPr>
            <a:r>
              <a:rPr lang="en-US" sz="2800" dirty="0"/>
              <a:t>Rahma </a:t>
            </a:r>
            <a:r>
              <a:rPr lang="en-US" sz="2800" dirty="0" err="1"/>
              <a:t>Yosry</a:t>
            </a:r>
            <a:endParaRPr lang="en-US" sz="2800" dirty="0"/>
          </a:p>
          <a:p>
            <a:pPr marL="571500" indent="-571500" algn="l">
              <a:buFont typeface="+mj-lt"/>
              <a:buAutoNum type="arabicParenR"/>
            </a:pPr>
            <a:r>
              <a:rPr lang="en-US" sz="2800" dirty="0" err="1"/>
              <a:t>Shymaa</a:t>
            </a:r>
            <a:r>
              <a:rPr lang="en-US" sz="2800" dirty="0"/>
              <a:t> Mohammed</a:t>
            </a:r>
          </a:p>
        </p:txBody>
      </p:sp>
      <p:sp>
        <p:nvSpPr>
          <p:cNvPr id="7" name="Text Placeholder 3">
            <a:extLst>
              <a:ext uri="{FF2B5EF4-FFF2-40B4-BE49-F238E27FC236}">
                <a16:creationId xmlns:a16="http://schemas.microsoft.com/office/drawing/2014/main" id="{C88066E1-CD5B-AE70-416A-676C08FD16FD}"/>
              </a:ext>
            </a:extLst>
          </p:cNvPr>
          <p:cNvSpPr txBox="1">
            <a:spLocks/>
          </p:cNvSpPr>
          <p:nvPr/>
        </p:nvSpPr>
        <p:spPr>
          <a:xfrm>
            <a:off x="488950" y="4948272"/>
            <a:ext cx="11214100" cy="1662077"/>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Clr>
                <a:schemeClr val="accent2"/>
              </a:buClr>
              <a:buFont typeface="Arial" panose="020B0604020202020204" pitchFamily="34" charset="0"/>
              <a:buNone/>
              <a:defRPr sz="6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2800" b="1" dirty="0"/>
              <a:t>Under the Supervision of</a:t>
            </a:r>
          </a:p>
          <a:p>
            <a:pPr>
              <a:lnSpc>
                <a:spcPct val="150000"/>
              </a:lnSpc>
            </a:pPr>
            <a:r>
              <a:rPr lang="en-US" sz="3200" dirty="0"/>
              <a:t>Dr. Maged Magdy</a:t>
            </a:r>
          </a:p>
        </p:txBody>
      </p:sp>
    </p:spTree>
    <p:extLst>
      <p:ext uri="{BB962C8B-B14F-4D97-AF65-F5344CB8AC3E}">
        <p14:creationId xmlns:p14="http://schemas.microsoft.com/office/powerpoint/2010/main" val="3323646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p:txBody>
          <a:bodyPr/>
          <a:lstStyle/>
          <a:p>
            <a:r>
              <a:rPr lang="en-US" dirty="0"/>
              <a:t>Project Steps</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5" name="Text Placeholder 4">
            <a:extLst>
              <a:ext uri="{FF2B5EF4-FFF2-40B4-BE49-F238E27FC236}">
                <a16:creationId xmlns:a16="http://schemas.microsoft.com/office/drawing/2014/main" id="{0A95F4DE-39B7-4CE2-BC1E-8B8AE662A895}"/>
              </a:ext>
            </a:extLst>
          </p:cNvPr>
          <p:cNvSpPr>
            <a:spLocks noGrp="1"/>
          </p:cNvSpPr>
          <p:nvPr>
            <p:ph type="body" sz="quarter" idx="13"/>
          </p:nvPr>
        </p:nvSpPr>
        <p:spPr>
          <a:xfrm>
            <a:off x="444500" y="1625385"/>
            <a:ext cx="11214100" cy="4093243"/>
          </a:xfrm>
        </p:spPr>
        <p:txBody>
          <a:bodyPr/>
          <a:lstStyle/>
          <a:p>
            <a:pPr>
              <a:lnSpc>
                <a:spcPct val="200000"/>
              </a:lnSpc>
            </a:pPr>
            <a:r>
              <a:rPr lang="en-US" sz="1800" dirty="0"/>
              <a:t>Data Exploration and Problem Statement</a:t>
            </a:r>
          </a:p>
          <a:p>
            <a:pPr>
              <a:lnSpc>
                <a:spcPct val="200000"/>
              </a:lnSpc>
            </a:pPr>
            <a:r>
              <a:rPr lang="en-US" sz="1800" dirty="0"/>
              <a:t>Data Preparation &amp; Cleaning</a:t>
            </a:r>
          </a:p>
          <a:p>
            <a:pPr>
              <a:lnSpc>
                <a:spcPct val="200000"/>
              </a:lnSpc>
            </a:pPr>
            <a:r>
              <a:rPr lang="en-US" sz="1800" dirty="0"/>
              <a:t>Data Modeling &amp; Star Schema</a:t>
            </a:r>
          </a:p>
          <a:p>
            <a:pPr>
              <a:lnSpc>
                <a:spcPct val="200000"/>
              </a:lnSpc>
            </a:pPr>
            <a:r>
              <a:rPr lang="en-US" sz="1800" dirty="0"/>
              <a:t>Power BI Dashboard</a:t>
            </a:r>
          </a:p>
          <a:p>
            <a:pPr>
              <a:lnSpc>
                <a:spcPct val="200000"/>
              </a:lnSpc>
            </a:pPr>
            <a:r>
              <a:rPr lang="en-US" sz="1800" dirty="0"/>
              <a:t>Key Insights &amp; Recommendations</a:t>
            </a:r>
          </a:p>
        </p:txBody>
      </p:sp>
    </p:spTree>
    <p:extLst>
      <p:ext uri="{BB962C8B-B14F-4D97-AF65-F5344CB8AC3E}">
        <p14:creationId xmlns:p14="http://schemas.microsoft.com/office/powerpoint/2010/main" val="2725215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a:t>Problem Statement</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444499" y="1625385"/>
            <a:ext cx="8318501" cy="4803990"/>
          </a:xfrm>
        </p:spPr>
        <p:txBody>
          <a:bodyPr>
            <a:normAutofit/>
          </a:bodyPr>
          <a:lstStyle/>
          <a:p>
            <a:pPr marL="0" indent="0" algn="just">
              <a:buNone/>
            </a:pPr>
            <a:r>
              <a:rPr lang="en-US" sz="1800" dirty="0"/>
              <a:t>This analysis leverages a five-file HR dataset to identify key drivers of attrition and measure critical HR KPIs. The dataset includes employee demographics, performance ratings, education levels, rating scales, and satisfaction levels. </a:t>
            </a:r>
          </a:p>
          <a:p>
            <a:pPr marL="0" indent="0" algn="just">
              <a:buNone/>
            </a:pPr>
            <a:r>
              <a:rPr lang="en-US" sz="1800" b="1" dirty="0"/>
              <a:t>Problem Statement:</a:t>
            </a:r>
            <a:endParaRPr lang="en-US" sz="1800" dirty="0"/>
          </a:p>
          <a:p>
            <a:pPr marL="0" indent="0" algn="just">
              <a:buNone/>
            </a:pPr>
            <a:r>
              <a:rPr lang="en-US" sz="1800" dirty="0"/>
              <a:t>Despite maintaining a stable workforce, the organization is facing a critical attrition rate of </a:t>
            </a:r>
            <a:r>
              <a:rPr lang="en-US" sz="1800" b="1" dirty="0"/>
              <a:t>16.1%</a:t>
            </a:r>
            <a:r>
              <a:rPr lang="en-US" sz="1800" dirty="0"/>
              <a:t>, which disproportionately affects new joiners (0–2 years) and employees subjected to high overtime. This 'Onboarding Trap' and burnout cycle result in an estimated annual replacement cost of </a:t>
            </a:r>
            <a:r>
              <a:rPr lang="en-US" sz="1800" b="1" dirty="0"/>
              <a:t>$40.156M</a:t>
            </a:r>
            <a:r>
              <a:rPr lang="en-US" sz="1800" dirty="0"/>
              <a:t>, while simultaneously threatening the long-term talent pipeline. Currently, HR interventions are reactive, leading to the loss of high-potential employees who exhibit high performance but low job satisfaction.</a:t>
            </a:r>
          </a:p>
          <a:p>
            <a:pPr marL="0" indent="0" algn="just">
              <a:buNone/>
            </a:pPr>
            <a:r>
              <a:rPr lang="en-US" sz="1800" b="1" dirty="0"/>
              <a:t>The Goal:</a:t>
            </a:r>
            <a:r>
              <a:rPr lang="en-US" sz="1800" dirty="0"/>
              <a:t> </a:t>
            </a:r>
          </a:p>
          <a:p>
            <a:pPr marL="0" indent="0" algn="just">
              <a:buNone/>
            </a:pPr>
            <a:r>
              <a:rPr lang="en-US" sz="1800" dirty="0"/>
              <a:t>To transition from descriptive reporting to a </a:t>
            </a:r>
            <a:r>
              <a:rPr lang="en-US" sz="1800" b="1" dirty="0"/>
              <a:t>predictive retention strategy</a:t>
            </a:r>
            <a:r>
              <a:rPr lang="en-US" sz="1800" dirty="0"/>
              <a:t> that identifies flight risks before they exit, specifically targeting compensation equity and workload balance.</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99E69-27F4-AE2D-93E0-3A8B439B2CF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3EA0BA3-1994-7B24-8C87-99FA126CABBB}"/>
              </a:ext>
            </a:extLst>
          </p:cNvPr>
          <p:cNvSpPr>
            <a:spLocks noGrp="1"/>
          </p:cNvSpPr>
          <p:nvPr>
            <p:ph type="title"/>
          </p:nvPr>
        </p:nvSpPr>
        <p:spPr/>
        <p:txBody>
          <a:bodyPr/>
          <a:lstStyle/>
          <a:p>
            <a:r>
              <a:rPr lang="en-US" dirty="0"/>
              <a:t>Data Exploration</a:t>
            </a:r>
          </a:p>
        </p:txBody>
      </p:sp>
      <p:sp>
        <p:nvSpPr>
          <p:cNvPr id="10" name="Text Placeholder 9">
            <a:extLst>
              <a:ext uri="{FF2B5EF4-FFF2-40B4-BE49-F238E27FC236}">
                <a16:creationId xmlns:a16="http://schemas.microsoft.com/office/drawing/2014/main" id="{26144B2D-10A2-AA54-E158-DA8FED0EF16F}"/>
              </a:ext>
            </a:extLst>
          </p:cNvPr>
          <p:cNvSpPr>
            <a:spLocks noGrp="1"/>
          </p:cNvSpPr>
          <p:nvPr>
            <p:ph type="body" sz="quarter" idx="13"/>
          </p:nvPr>
        </p:nvSpPr>
        <p:spPr>
          <a:xfrm>
            <a:off x="444499" y="1625385"/>
            <a:ext cx="7489825" cy="4803990"/>
          </a:xfrm>
        </p:spPr>
        <p:txBody>
          <a:bodyPr>
            <a:normAutofit/>
          </a:bodyPr>
          <a:lstStyle/>
          <a:p>
            <a:pPr marL="0" indent="0" algn="just">
              <a:buNone/>
            </a:pPr>
            <a:r>
              <a:rPr lang="en-US" sz="1800" dirty="0"/>
              <a:t>Upon exploration of the dataset, we found the following:</a:t>
            </a:r>
          </a:p>
          <a:p>
            <a:pPr marL="0" indent="0" algn="just">
              <a:buNone/>
            </a:pPr>
            <a:r>
              <a:rPr lang="en-US" sz="1800" dirty="0"/>
              <a:t>There are five datasets covering the data of employees and the data of satisfaction and performance. By simple analysis of the data, we reached the following KPIs:</a:t>
            </a:r>
          </a:p>
          <a:p>
            <a:pPr marL="0" indent="0" algn="just">
              <a:buNone/>
            </a:pPr>
            <a:r>
              <a:rPr lang="en-US" sz="1800" dirty="0"/>
              <a:t>Total Number of Employees = 1470 (Active: 1233 &amp; Exited: 237)</a:t>
            </a:r>
          </a:p>
          <a:p>
            <a:pPr marL="0" indent="0" algn="just">
              <a:buNone/>
            </a:pPr>
            <a:r>
              <a:rPr lang="en-US" sz="1800" b="1" dirty="0">
                <a:solidFill>
                  <a:srgbClr val="FF0000"/>
                </a:solidFill>
              </a:rPr>
              <a:t>Attrition Rate: 16.12%</a:t>
            </a:r>
          </a:p>
          <a:p>
            <a:pPr marL="0" indent="0" algn="just">
              <a:buNone/>
            </a:pPr>
            <a:r>
              <a:rPr lang="en-US" sz="1800" b="1" dirty="0">
                <a:solidFill>
                  <a:srgbClr val="FF0000"/>
                </a:solidFill>
              </a:rPr>
              <a:t>Estimated Replacement Cost: 40.156 million dollars</a:t>
            </a:r>
          </a:p>
          <a:p>
            <a:pPr marL="0" indent="0" algn="just">
              <a:buNone/>
            </a:pPr>
            <a:r>
              <a:rPr lang="en-US" sz="1800" dirty="0"/>
              <a:t>Average Age: 28.99 years</a:t>
            </a:r>
          </a:p>
          <a:p>
            <a:pPr marL="0" indent="0" algn="just">
              <a:buNone/>
            </a:pPr>
            <a:r>
              <a:rPr lang="en-US" sz="1800" dirty="0"/>
              <a:t>Average Tenure: 4.97 years for active</a:t>
            </a:r>
          </a:p>
          <a:p>
            <a:pPr marL="0" indent="0" algn="just">
              <a:buNone/>
            </a:pPr>
            <a:endParaRPr lang="en-US" sz="1800" dirty="0"/>
          </a:p>
        </p:txBody>
      </p:sp>
      <p:sp>
        <p:nvSpPr>
          <p:cNvPr id="2" name="Slide Number Placeholder 1">
            <a:extLst>
              <a:ext uri="{FF2B5EF4-FFF2-40B4-BE49-F238E27FC236}">
                <a16:creationId xmlns:a16="http://schemas.microsoft.com/office/drawing/2014/main" id="{C625BA0C-74D0-6DF0-EA86-469B984F1697}"/>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Tree>
    <p:extLst>
      <p:ext uri="{BB962C8B-B14F-4D97-AF65-F5344CB8AC3E}">
        <p14:creationId xmlns:p14="http://schemas.microsoft.com/office/powerpoint/2010/main" val="1766736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FB93-0063-2785-4A14-DD2491ADFFC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1D55D14-7F9D-56F2-38DE-D5A602E31518}"/>
              </a:ext>
            </a:extLst>
          </p:cNvPr>
          <p:cNvSpPr>
            <a:spLocks noGrp="1"/>
          </p:cNvSpPr>
          <p:nvPr>
            <p:ph type="title"/>
          </p:nvPr>
        </p:nvSpPr>
        <p:spPr/>
        <p:txBody>
          <a:bodyPr/>
          <a:lstStyle/>
          <a:p>
            <a:r>
              <a:rPr lang="en-US" dirty="0"/>
              <a:t>Key DAX Measures</a:t>
            </a:r>
          </a:p>
        </p:txBody>
      </p:sp>
      <p:sp>
        <p:nvSpPr>
          <p:cNvPr id="10" name="Text Placeholder 9">
            <a:extLst>
              <a:ext uri="{FF2B5EF4-FFF2-40B4-BE49-F238E27FC236}">
                <a16:creationId xmlns:a16="http://schemas.microsoft.com/office/drawing/2014/main" id="{0456B954-F13D-4A8C-0459-30CCFFAFB1D8}"/>
              </a:ext>
            </a:extLst>
          </p:cNvPr>
          <p:cNvSpPr>
            <a:spLocks noGrp="1"/>
          </p:cNvSpPr>
          <p:nvPr>
            <p:ph type="body" sz="quarter" idx="13"/>
          </p:nvPr>
        </p:nvSpPr>
        <p:spPr>
          <a:xfrm>
            <a:off x="444499" y="1625385"/>
            <a:ext cx="7489825" cy="4803990"/>
          </a:xfrm>
        </p:spPr>
        <p:txBody>
          <a:bodyPr>
            <a:normAutofit/>
          </a:bodyPr>
          <a:lstStyle/>
          <a:p>
            <a:pPr marL="0" indent="0">
              <a:buNone/>
            </a:pPr>
            <a:r>
              <a:rPr lang="en-US" dirty="0" err="1"/>
              <a:t>Total_Employees</a:t>
            </a:r>
            <a:r>
              <a:rPr lang="en-US" dirty="0"/>
              <a:t> = COUNT(Employee[</a:t>
            </a:r>
            <a:r>
              <a:rPr lang="en-US" dirty="0" err="1"/>
              <a:t>EmployeeID</a:t>
            </a:r>
            <a:r>
              <a:rPr lang="en-US" dirty="0"/>
              <a:t>])</a:t>
            </a:r>
          </a:p>
          <a:p>
            <a:pPr marL="0" indent="0">
              <a:buNone/>
            </a:pPr>
            <a:endParaRPr lang="en-US" dirty="0"/>
          </a:p>
          <a:p>
            <a:pPr marL="0" indent="0">
              <a:buNone/>
            </a:pPr>
            <a:r>
              <a:rPr lang="en-US" dirty="0" err="1"/>
              <a:t>Attrition_Rate</a:t>
            </a:r>
            <a:r>
              <a:rPr lang="en-US" dirty="0"/>
              <a:t> = DIVIDE([</a:t>
            </a:r>
            <a:r>
              <a:rPr lang="en-US" dirty="0" err="1"/>
              <a:t>Exited_Employees</a:t>
            </a:r>
            <a:r>
              <a:rPr lang="en-US" dirty="0"/>
              <a:t>], [</a:t>
            </a:r>
            <a:r>
              <a:rPr lang="en-US" dirty="0" err="1"/>
              <a:t>Total_Employees</a:t>
            </a:r>
            <a:r>
              <a:rPr lang="en-US" dirty="0"/>
              <a:t>], 0)</a:t>
            </a:r>
          </a:p>
          <a:p>
            <a:pPr marL="0" indent="0">
              <a:buNone/>
            </a:pPr>
            <a:endParaRPr lang="en-US" dirty="0"/>
          </a:p>
          <a:p>
            <a:pPr marL="0" indent="0">
              <a:buNone/>
            </a:pPr>
            <a:r>
              <a:rPr lang="en-US" dirty="0" err="1"/>
              <a:t>Average_Tenure_Active</a:t>
            </a:r>
            <a:r>
              <a:rPr lang="en-US" dirty="0"/>
              <a:t> = CALCULATE(AVERAGE(Employee[</a:t>
            </a:r>
            <a:r>
              <a:rPr lang="en-US" dirty="0" err="1"/>
              <a:t>YearsAtCompany</a:t>
            </a:r>
            <a:r>
              <a:rPr lang="en-US" dirty="0"/>
              <a:t>]), Employee[Attrition] = "No")</a:t>
            </a:r>
          </a:p>
          <a:p>
            <a:pPr marL="0" indent="0">
              <a:buNone/>
            </a:pPr>
            <a:endParaRPr lang="en-US" dirty="0"/>
          </a:p>
          <a:p>
            <a:pPr marL="0" indent="0">
              <a:buNone/>
            </a:pPr>
            <a:r>
              <a:rPr lang="en-US" dirty="0" err="1"/>
              <a:t>New_Joiner_Attrition</a:t>
            </a:r>
            <a:r>
              <a:rPr lang="en-US" dirty="0"/>
              <a:t> = CALCULATE([</a:t>
            </a:r>
            <a:r>
              <a:rPr lang="en-US" dirty="0" err="1"/>
              <a:t>Attrition_Rate</a:t>
            </a:r>
            <a:r>
              <a:rPr lang="en-US" dirty="0"/>
              <a:t>], Employee[</a:t>
            </a:r>
            <a:r>
              <a:rPr lang="en-US" dirty="0" err="1"/>
              <a:t>YearsAtCompany</a:t>
            </a:r>
            <a:r>
              <a:rPr lang="en-US" dirty="0"/>
              <a:t>] &lt;= 2)</a:t>
            </a:r>
          </a:p>
          <a:p>
            <a:pPr marL="0" indent="0">
              <a:buNone/>
            </a:pPr>
            <a:endParaRPr lang="en-US" dirty="0"/>
          </a:p>
          <a:p>
            <a:pPr marL="0" indent="0">
              <a:buNone/>
            </a:pPr>
            <a:r>
              <a:rPr lang="en-US" dirty="0" err="1"/>
              <a:t>Overtime_Percentage</a:t>
            </a:r>
            <a:r>
              <a:rPr lang="en-US" dirty="0"/>
              <a:t> = DIVIDE(CALCULATE(COUNT(Employee[</a:t>
            </a:r>
            <a:r>
              <a:rPr lang="en-US" dirty="0" err="1"/>
              <a:t>EmployeeID</a:t>
            </a:r>
            <a:r>
              <a:rPr lang="en-US" dirty="0"/>
              <a:t>]), Employee[</a:t>
            </a:r>
            <a:r>
              <a:rPr lang="en-US" dirty="0" err="1"/>
              <a:t>OverTime</a:t>
            </a:r>
            <a:r>
              <a:rPr lang="en-US" dirty="0"/>
              <a:t>] = "Yes"), COUNT(Employee[</a:t>
            </a:r>
            <a:r>
              <a:rPr lang="en-US" dirty="0" err="1"/>
              <a:t>EmployeeID</a:t>
            </a:r>
            <a:r>
              <a:rPr lang="en-US" dirty="0"/>
              <a:t>]))</a:t>
            </a:r>
          </a:p>
        </p:txBody>
      </p:sp>
      <p:sp>
        <p:nvSpPr>
          <p:cNvPr id="2" name="Slide Number Placeholder 1">
            <a:extLst>
              <a:ext uri="{FF2B5EF4-FFF2-40B4-BE49-F238E27FC236}">
                <a16:creationId xmlns:a16="http://schemas.microsoft.com/office/drawing/2014/main" id="{EB28D744-B398-85CC-9573-E98478972CB8}"/>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Tree>
    <p:extLst>
      <p:ext uri="{BB962C8B-B14F-4D97-AF65-F5344CB8AC3E}">
        <p14:creationId xmlns:p14="http://schemas.microsoft.com/office/powerpoint/2010/main" val="131464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01949-0D43-AEB0-BC71-73FB9FF0715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B4D07C9-7C89-0F37-FB30-4ECEAF91897D}"/>
              </a:ext>
            </a:extLst>
          </p:cNvPr>
          <p:cNvSpPr>
            <a:spLocks noGrp="1"/>
          </p:cNvSpPr>
          <p:nvPr>
            <p:ph type="title"/>
          </p:nvPr>
        </p:nvSpPr>
        <p:spPr/>
        <p:txBody>
          <a:bodyPr/>
          <a:lstStyle/>
          <a:p>
            <a:r>
              <a:rPr lang="en-US" dirty="0"/>
              <a:t>Data Modelling</a:t>
            </a:r>
          </a:p>
        </p:txBody>
      </p:sp>
      <p:sp>
        <p:nvSpPr>
          <p:cNvPr id="2" name="Slide Number Placeholder 1">
            <a:extLst>
              <a:ext uri="{FF2B5EF4-FFF2-40B4-BE49-F238E27FC236}">
                <a16:creationId xmlns:a16="http://schemas.microsoft.com/office/drawing/2014/main" id="{C66AEC54-0D14-3D07-ED51-180C6682C015}"/>
              </a:ext>
            </a:extLst>
          </p:cNvPr>
          <p:cNvSpPr>
            <a:spLocks noGrp="1"/>
          </p:cNvSpPr>
          <p:nvPr>
            <p:ph type="sldNum" sz="quarter" idx="12"/>
          </p:nvPr>
        </p:nvSpPr>
        <p:spPr/>
        <p:txBody>
          <a:bodyPr/>
          <a:lstStyle/>
          <a:p>
            <a:fld id="{C263D6C4-4840-40CC-AC84-17E24B3B7BDE}" type="slidenum">
              <a:rPr lang="en-US" smtClean="0"/>
              <a:pPr/>
              <a:t>7</a:t>
            </a:fld>
            <a:endParaRPr lang="en-US" dirty="0"/>
          </a:p>
        </p:txBody>
      </p:sp>
      <p:pic>
        <p:nvPicPr>
          <p:cNvPr id="6" name="Picture 5">
            <a:extLst>
              <a:ext uri="{FF2B5EF4-FFF2-40B4-BE49-F238E27FC236}">
                <a16:creationId xmlns:a16="http://schemas.microsoft.com/office/drawing/2014/main" id="{C06788F7-7436-2571-FAE8-25BEFE633706}"/>
              </a:ext>
            </a:extLst>
          </p:cNvPr>
          <p:cNvPicPr>
            <a:picLocks noChangeAspect="1"/>
          </p:cNvPicPr>
          <p:nvPr/>
        </p:nvPicPr>
        <p:blipFill>
          <a:blip r:embed="rId2"/>
          <a:stretch>
            <a:fillRect/>
          </a:stretch>
        </p:blipFill>
        <p:spPr>
          <a:xfrm>
            <a:off x="1595438" y="2657474"/>
            <a:ext cx="9001125" cy="4200525"/>
          </a:xfrm>
          <a:prstGeom prst="rect">
            <a:avLst/>
          </a:prstGeom>
        </p:spPr>
      </p:pic>
      <p:sp>
        <p:nvSpPr>
          <p:cNvPr id="8" name="Text Placeholder 3">
            <a:extLst>
              <a:ext uri="{FF2B5EF4-FFF2-40B4-BE49-F238E27FC236}">
                <a16:creationId xmlns:a16="http://schemas.microsoft.com/office/drawing/2014/main" id="{CB477D32-5C7E-9205-7F4F-33123E6B204D}"/>
              </a:ext>
            </a:extLst>
          </p:cNvPr>
          <p:cNvSpPr>
            <a:spLocks noGrp="1"/>
          </p:cNvSpPr>
          <p:nvPr>
            <p:ph type="body" sz="quarter" idx="13"/>
          </p:nvPr>
        </p:nvSpPr>
        <p:spPr>
          <a:xfrm>
            <a:off x="444500" y="1625386"/>
            <a:ext cx="11214100" cy="936840"/>
          </a:xfrm>
        </p:spPr>
        <p:txBody>
          <a:bodyPr/>
          <a:lstStyle/>
          <a:p>
            <a:pPr>
              <a:lnSpc>
                <a:spcPct val="150000"/>
              </a:lnSpc>
            </a:pPr>
            <a:r>
              <a:rPr lang="en-US" sz="1800" dirty="0"/>
              <a:t>In this stage, we sought to generate a clear and simple model where all fact tables and dimension tables are correctly connected to each other</a:t>
            </a:r>
          </a:p>
        </p:txBody>
      </p:sp>
    </p:spTree>
    <p:extLst>
      <p:ext uri="{BB962C8B-B14F-4D97-AF65-F5344CB8AC3E}">
        <p14:creationId xmlns:p14="http://schemas.microsoft.com/office/powerpoint/2010/main" val="1163929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E105D-2208-6915-BFCB-F40B0ECF0C9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5FC58C2-575B-D8FF-A4D3-08CBC6CA8B72}"/>
              </a:ext>
            </a:extLst>
          </p:cNvPr>
          <p:cNvSpPr>
            <a:spLocks noGrp="1"/>
          </p:cNvSpPr>
          <p:nvPr>
            <p:ph type="title"/>
          </p:nvPr>
        </p:nvSpPr>
        <p:spPr/>
        <p:txBody>
          <a:bodyPr/>
          <a:lstStyle/>
          <a:p>
            <a:r>
              <a:rPr lang="en-US" dirty="0"/>
              <a:t>Significant KPIs</a:t>
            </a:r>
          </a:p>
        </p:txBody>
      </p:sp>
      <p:sp>
        <p:nvSpPr>
          <p:cNvPr id="10" name="Text Placeholder 9">
            <a:extLst>
              <a:ext uri="{FF2B5EF4-FFF2-40B4-BE49-F238E27FC236}">
                <a16:creationId xmlns:a16="http://schemas.microsoft.com/office/drawing/2014/main" id="{8341FBB5-2A15-53EA-523A-06B248FB1D7B}"/>
              </a:ext>
            </a:extLst>
          </p:cNvPr>
          <p:cNvSpPr>
            <a:spLocks noGrp="1"/>
          </p:cNvSpPr>
          <p:nvPr>
            <p:ph type="body" sz="quarter" idx="13"/>
          </p:nvPr>
        </p:nvSpPr>
        <p:spPr>
          <a:xfrm>
            <a:off x="444498" y="1625385"/>
            <a:ext cx="9251951" cy="4803990"/>
          </a:xfrm>
        </p:spPr>
        <p:txBody>
          <a:bodyPr>
            <a:normAutofit/>
          </a:bodyPr>
          <a:lstStyle/>
          <a:p>
            <a:pPr marL="0" indent="0" algn="just">
              <a:buNone/>
            </a:pPr>
            <a:r>
              <a:rPr lang="en-US" sz="1800" b="1" dirty="0"/>
              <a:t>Attrition Rate</a:t>
            </a:r>
            <a:r>
              <a:rPr lang="en-US" sz="1800" dirty="0"/>
              <a:t>: The output of the division of number of leavers by the total number of employees.</a:t>
            </a:r>
          </a:p>
          <a:p>
            <a:pPr marL="0" indent="0" algn="just">
              <a:buNone/>
            </a:pPr>
            <a:r>
              <a:rPr lang="en-US" sz="1800" b="1" dirty="0"/>
              <a:t>Tenure</a:t>
            </a:r>
            <a:r>
              <a:rPr lang="en-US" sz="1800" dirty="0"/>
              <a:t>: The period that the employee stays at the company.</a:t>
            </a:r>
          </a:p>
          <a:p>
            <a:pPr marL="0" indent="0" algn="just">
              <a:buNone/>
            </a:pPr>
            <a:r>
              <a:rPr lang="en-US" sz="1800" b="1" dirty="0"/>
              <a:t>Overtime Risk</a:t>
            </a:r>
            <a:r>
              <a:rPr lang="en-US" sz="1800" dirty="0"/>
              <a:t>: The output of the division of number of employees who works on overtime basis by the total number of employees.</a:t>
            </a:r>
          </a:p>
          <a:p>
            <a:pPr marL="0" indent="0" algn="just">
              <a:buNone/>
            </a:pPr>
            <a:r>
              <a:rPr lang="en-US" sz="1800" b="1" dirty="0"/>
              <a:t>Job Satisfaction, Environment Satisfaction &amp; Relationship Satisfaction</a:t>
            </a:r>
            <a:r>
              <a:rPr lang="en-US" sz="1800" dirty="0"/>
              <a:t>: They are surveyed data scaled from 1 to 5</a:t>
            </a:r>
          </a:p>
          <a:p>
            <a:pPr marL="0" indent="0" algn="just">
              <a:buNone/>
            </a:pPr>
            <a:r>
              <a:rPr lang="en-US" sz="1800" b="1" dirty="0"/>
              <a:t>Job Satisfaction, Environment Satisfaction &amp; Relationship Satisfaction</a:t>
            </a:r>
            <a:r>
              <a:rPr lang="en-US" sz="1800" dirty="0"/>
              <a:t>: They are surveyed data scaled from 1 to 5</a:t>
            </a:r>
          </a:p>
          <a:p>
            <a:pPr marL="0" indent="0" algn="just">
              <a:buNone/>
            </a:pPr>
            <a:r>
              <a:rPr lang="en-US" sz="1800" b="1" dirty="0"/>
              <a:t>Manager Rating &amp; Self Rating</a:t>
            </a:r>
            <a:r>
              <a:rPr lang="en-US" sz="1800" dirty="0"/>
              <a:t>: They are surveyed data scaled from 1 to 5</a:t>
            </a:r>
          </a:p>
        </p:txBody>
      </p:sp>
      <p:sp>
        <p:nvSpPr>
          <p:cNvPr id="2" name="Slide Number Placeholder 1">
            <a:extLst>
              <a:ext uri="{FF2B5EF4-FFF2-40B4-BE49-F238E27FC236}">
                <a16:creationId xmlns:a16="http://schemas.microsoft.com/office/drawing/2014/main" id="{5F4058BA-B563-E767-8956-DD10776893F3}"/>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Tree>
    <p:extLst>
      <p:ext uri="{BB962C8B-B14F-4D97-AF65-F5344CB8AC3E}">
        <p14:creationId xmlns:p14="http://schemas.microsoft.com/office/powerpoint/2010/main" val="469985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98F68-9F28-13AB-42BC-030EAF5972C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0C07782-C1CA-3807-A0ED-C5149C2D3C81}"/>
              </a:ext>
            </a:extLst>
          </p:cNvPr>
          <p:cNvSpPr>
            <a:spLocks noGrp="1"/>
          </p:cNvSpPr>
          <p:nvPr>
            <p:ph type="title"/>
          </p:nvPr>
        </p:nvSpPr>
        <p:spPr/>
        <p:txBody>
          <a:bodyPr/>
          <a:lstStyle/>
          <a:p>
            <a:r>
              <a:rPr lang="en-US" dirty="0"/>
              <a:t>Anomalies</a:t>
            </a:r>
          </a:p>
        </p:txBody>
      </p:sp>
      <p:sp>
        <p:nvSpPr>
          <p:cNvPr id="10" name="Text Placeholder 9">
            <a:extLst>
              <a:ext uri="{FF2B5EF4-FFF2-40B4-BE49-F238E27FC236}">
                <a16:creationId xmlns:a16="http://schemas.microsoft.com/office/drawing/2014/main" id="{CC58547B-4CBD-E155-893E-0AB4FA890E77}"/>
              </a:ext>
            </a:extLst>
          </p:cNvPr>
          <p:cNvSpPr>
            <a:spLocks noGrp="1"/>
          </p:cNvSpPr>
          <p:nvPr>
            <p:ph type="body" sz="quarter" idx="13"/>
          </p:nvPr>
        </p:nvSpPr>
        <p:spPr>
          <a:xfrm>
            <a:off x="444498" y="1625385"/>
            <a:ext cx="9213851" cy="4803990"/>
          </a:xfrm>
        </p:spPr>
        <p:txBody>
          <a:bodyPr>
            <a:normAutofit/>
          </a:bodyPr>
          <a:lstStyle/>
          <a:p>
            <a:pPr marL="0" indent="0" algn="just">
              <a:buNone/>
            </a:pPr>
            <a:r>
              <a:rPr lang="en-US" b="1" dirty="0"/>
              <a:t>Salary Disparity for Attrition of High Performers</a:t>
            </a:r>
          </a:p>
          <a:p>
            <a:pPr algn="just"/>
            <a:r>
              <a:rPr lang="en-US" dirty="0"/>
              <a:t>While not an anomaly in the sense of data error, the significant disparity between the average salaries of high-performing employees who stay versus those who leave represents a critical business anomaly. It indicates a potential failure in compensation strategies to retain top talent, where employees are leaving despite strong performance, likely due to uncompetitive remuneration. This is an unexpected behavior that warrants immediate investigation.</a:t>
            </a:r>
          </a:p>
          <a:p>
            <a:pPr marL="0" indent="0" algn="just">
              <a:buNone/>
            </a:pPr>
            <a:r>
              <a:rPr lang="en-US" b="1" dirty="0"/>
              <a:t>Low Attrition with High Years Since Last Promotion (10+ years)</a:t>
            </a:r>
          </a:p>
          <a:p>
            <a:pPr algn="just"/>
            <a:r>
              <a:rPr lang="en-US" dirty="0"/>
              <a:t>Interestingly, employees with 10 or more years since their last promotion show 0% attrition. This is an anomaly when contrasted with the high attrition rates for those with 0-1 years since promotion. This could indicate a segment of highly tenured, stable employees who are less driven by promotional opportunities, or perhaps have reached senior individual contributor roles where promotions are less frequent but job satisfaction remains high.</a:t>
            </a:r>
          </a:p>
        </p:txBody>
      </p:sp>
      <p:sp>
        <p:nvSpPr>
          <p:cNvPr id="2" name="Slide Number Placeholder 1">
            <a:extLst>
              <a:ext uri="{FF2B5EF4-FFF2-40B4-BE49-F238E27FC236}">
                <a16:creationId xmlns:a16="http://schemas.microsoft.com/office/drawing/2014/main" id="{F936125E-1D0C-C405-D333-9C8FF523ADEB}"/>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Tree>
    <p:extLst>
      <p:ext uri="{BB962C8B-B14F-4D97-AF65-F5344CB8AC3E}">
        <p14:creationId xmlns:p14="http://schemas.microsoft.com/office/powerpoint/2010/main" val="146733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81DE6-1555-AA01-A05E-419B45B47C5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218AE56-88AC-11D2-79FB-8E232DE02DB2}"/>
              </a:ext>
            </a:extLst>
          </p:cNvPr>
          <p:cNvSpPr>
            <a:spLocks noGrp="1"/>
          </p:cNvSpPr>
          <p:nvPr>
            <p:ph type="title"/>
          </p:nvPr>
        </p:nvSpPr>
        <p:spPr>
          <a:xfrm>
            <a:off x="444500" y="542925"/>
            <a:ext cx="11214100" cy="535531"/>
          </a:xfrm>
        </p:spPr>
        <p:txBody>
          <a:bodyPr/>
          <a:lstStyle/>
          <a:p>
            <a:r>
              <a:rPr lang="en-US" dirty="0"/>
              <a:t>Business Implications</a:t>
            </a:r>
          </a:p>
        </p:txBody>
      </p:sp>
      <p:sp>
        <p:nvSpPr>
          <p:cNvPr id="10" name="Text Placeholder 9">
            <a:extLst>
              <a:ext uri="{FF2B5EF4-FFF2-40B4-BE49-F238E27FC236}">
                <a16:creationId xmlns:a16="http://schemas.microsoft.com/office/drawing/2014/main" id="{27542444-F4B1-A43F-5848-78FF22ECB714}"/>
              </a:ext>
            </a:extLst>
          </p:cNvPr>
          <p:cNvSpPr>
            <a:spLocks noGrp="1"/>
          </p:cNvSpPr>
          <p:nvPr>
            <p:ph type="body" sz="quarter" idx="13"/>
          </p:nvPr>
        </p:nvSpPr>
        <p:spPr>
          <a:xfrm>
            <a:off x="444498" y="1625385"/>
            <a:ext cx="9042401" cy="4803990"/>
          </a:xfrm>
        </p:spPr>
        <p:txBody>
          <a:bodyPr>
            <a:normAutofit lnSpcReduction="10000"/>
          </a:bodyPr>
          <a:lstStyle/>
          <a:p>
            <a:pPr marL="0" indent="0" algn="just">
              <a:buNone/>
            </a:pPr>
            <a:r>
              <a:rPr lang="en-US" b="1" dirty="0"/>
              <a:t>Talent Drain Risk: </a:t>
            </a:r>
          </a:p>
          <a:p>
            <a:pPr marL="0" indent="0" algn="just">
              <a:buNone/>
            </a:pPr>
            <a:r>
              <a:rPr lang="en-US" dirty="0"/>
              <a:t>The loss of high-performing employees and those in critical early/mid-career stages (25-35 age group) poses a significant risk to organizational capability, innovation, and future leadership pipelines.</a:t>
            </a:r>
          </a:p>
          <a:p>
            <a:pPr marL="0" indent="0" algn="just">
              <a:buNone/>
            </a:pPr>
            <a:r>
              <a:rPr lang="en-US" b="1" dirty="0"/>
              <a:t>Burnout and Productivity: </a:t>
            </a:r>
          </a:p>
          <a:p>
            <a:pPr marL="0" indent="0" algn="just">
              <a:buNone/>
            </a:pPr>
            <a:r>
              <a:rPr lang="en-US" dirty="0"/>
              <a:t>High attrition among employees working overtime suggests potential issues with workload distribution, resource allocation, or unrealistic expectations, leading to burnout and reduced overall productivity.</a:t>
            </a:r>
          </a:p>
          <a:p>
            <a:pPr marL="0" indent="0" algn="just">
              <a:buNone/>
            </a:pPr>
            <a:r>
              <a:rPr lang="en-US" b="1" dirty="0"/>
              <a:t>Compensation and Recognition Gaps: </a:t>
            </a:r>
          </a:p>
          <a:p>
            <a:pPr marL="0" indent="0" algn="just">
              <a:buNone/>
            </a:pPr>
            <a:r>
              <a:rPr lang="en-US" dirty="0"/>
              <a:t>The salary disparity for attrition of high performers implies that the current compensation and recognition framework may not be effectively retaining top talent, leading to a competitive disadvantage.</a:t>
            </a:r>
          </a:p>
          <a:p>
            <a:pPr marL="0" indent="0" algn="just">
              <a:buNone/>
            </a:pPr>
            <a:r>
              <a:rPr lang="en-US" b="1" dirty="0"/>
              <a:t>Employee Experience Erosion: </a:t>
            </a:r>
          </a:p>
          <a:p>
            <a:pPr marL="0" indent="0" algn="just">
              <a:buNone/>
            </a:pPr>
            <a:r>
              <a:rPr lang="en-US" dirty="0"/>
              <a:t>The subtle downward trend in manager ratings and environment satisfaction points to a gradual deterioration of the overall employee experience, which could impact engagement and retention across the board.</a:t>
            </a:r>
          </a:p>
        </p:txBody>
      </p:sp>
      <p:sp>
        <p:nvSpPr>
          <p:cNvPr id="2" name="Slide Number Placeholder 1">
            <a:extLst>
              <a:ext uri="{FF2B5EF4-FFF2-40B4-BE49-F238E27FC236}">
                <a16:creationId xmlns:a16="http://schemas.microsoft.com/office/drawing/2014/main" id="{1C41CA0F-ED6D-BD5F-2B9A-499075EAE378}"/>
              </a:ext>
            </a:extLst>
          </p:cNvPr>
          <p:cNvSpPr>
            <a:spLocks noGrp="1"/>
          </p:cNvSpPr>
          <p:nvPr>
            <p:ph type="sldNum" sz="quarter" idx="12"/>
          </p:nvPr>
        </p:nvSpPr>
        <p:spPr/>
        <p:txBody>
          <a:bodyPr/>
          <a:lstStyle/>
          <a:p>
            <a:fld id="{C263D6C4-4840-40CC-AC84-17E24B3B7BDE}" type="slidenum">
              <a:rPr lang="en-US" smtClean="0"/>
              <a:pPr/>
              <a:t>10</a:t>
            </a:fld>
            <a:endParaRPr lang="en-US" dirty="0"/>
          </a:p>
        </p:txBody>
      </p:sp>
    </p:spTree>
    <p:extLst>
      <p:ext uri="{BB962C8B-B14F-4D97-AF65-F5344CB8AC3E}">
        <p14:creationId xmlns:p14="http://schemas.microsoft.com/office/powerpoint/2010/main" val="904515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A39B9-71CD-BE19-9299-7B9F38DDF5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B8732E-12F9-B152-57BB-AD9231C6B094}"/>
              </a:ext>
            </a:extLst>
          </p:cNvPr>
          <p:cNvSpPr>
            <a:spLocks noGrp="1"/>
          </p:cNvSpPr>
          <p:nvPr>
            <p:ph type="title"/>
          </p:nvPr>
        </p:nvSpPr>
        <p:spPr/>
        <p:txBody>
          <a:bodyPr/>
          <a:lstStyle/>
          <a:p>
            <a:r>
              <a:rPr lang="en-US" dirty="0"/>
              <a:t>Key Insights</a:t>
            </a:r>
          </a:p>
        </p:txBody>
      </p:sp>
      <p:sp>
        <p:nvSpPr>
          <p:cNvPr id="3" name="Slide Number Placeholder 2">
            <a:extLst>
              <a:ext uri="{FF2B5EF4-FFF2-40B4-BE49-F238E27FC236}">
                <a16:creationId xmlns:a16="http://schemas.microsoft.com/office/drawing/2014/main" id="{BF4AFDC4-7043-5280-ECA0-CCF97031C4F5}"/>
              </a:ext>
            </a:extLst>
          </p:cNvPr>
          <p:cNvSpPr>
            <a:spLocks noGrp="1"/>
          </p:cNvSpPr>
          <p:nvPr>
            <p:ph type="sldNum" sz="quarter" idx="12"/>
          </p:nvPr>
        </p:nvSpPr>
        <p:spPr/>
        <p:txBody>
          <a:bodyPr/>
          <a:lstStyle/>
          <a:p>
            <a:fld id="{C263D6C4-4840-40CC-AC84-17E24B3B7BDE}" type="slidenum">
              <a:rPr lang="en-US" noProof="0" smtClean="0"/>
              <a:pPr/>
              <a:t>11</a:t>
            </a:fld>
            <a:endParaRPr lang="en-US" noProof="0" dirty="0"/>
          </a:p>
        </p:txBody>
      </p:sp>
      <p:sp>
        <p:nvSpPr>
          <p:cNvPr id="4" name="Text Placeholder 3">
            <a:extLst>
              <a:ext uri="{FF2B5EF4-FFF2-40B4-BE49-F238E27FC236}">
                <a16:creationId xmlns:a16="http://schemas.microsoft.com/office/drawing/2014/main" id="{653E302D-E955-37C9-F9F3-D0A0570015D1}"/>
              </a:ext>
            </a:extLst>
          </p:cNvPr>
          <p:cNvSpPr>
            <a:spLocks noGrp="1"/>
          </p:cNvSpPr>
          <p:nvPr>
            <p:ph type="body" sz="quarter" idx="13"/>
          </p:nvPr>
        </p:nvSpPr>
        <p:spPr>
          <a:xfrm>
            <a:off x="444500" y="1625385"/>
            <a:ext cx="10509250" cy="4093243"/>
          </a:xfrm>
        </p:spPr>
        <p:txBody>
          <a:bodyPr/>
          <a:lstStyle/>
          <a:p>
            <a:pPr marL="0" indent="0" algn="justLow">
              <a:buNone/>
            </a:pPr>
            <a:r>
              <a:rPr lang="en-US" b="1" dirty="0"/>
              <a:t>The High Cost of Stagnation ‒ Promotion Lag Drives Early Attrition</a:t>
            </a:r>
          </a:p>
          <a:p>
            <a:pPr algn="justLow"/>
            <a:r>
              <a:rPr lang="en-US" dirty="0"/>
              <a:t>Employees who have not received a promotion in the last year exhibit a significantly higher attrition rate (37.87%) compared to those promoted more recently. This rate drops sharply to 24.64% for those promoted one year ago and further declines to 10% for those promoted two years ago. This suggests that the initial period post-promotion, or lack thereof, is critical for retention. The perceived lack of career progression early on acts as a strong catalyst for employees to seek opportunities elsewhere.</a:t>
            </a:r>
          </a:p>
          <a:p>
            <a:pPr marL="0" indent="0" algn="justLow">
              <a:lnSpc>
                <a:spcPct val="125000"/>
              </a:lnSpc>
              <a:buNone/>
            </a:pPr>
            <a:endParaRPr lang="en-US" sz="1800" dirty="0"/>
          </a:p>
          <a:p>
            <a:pPr marL="0" indent="0" algn="justLow">
              <a:buNone/>
            </a:pPr>
            <a:r>
              <a:rPr lang="en-US" b="1" dirty="0"/>
              <a:t>Overtime as a Predictor of Attrition, Not Just a Symptom</a:t>
            </a:r>
          </a:p>
          <a:p>
            <a:pPr algn="justLow"/>
            <a:r>
              <a:rPr lang="en-US" dirty="0"/>
              <a:t>Employees consistently working overtime have an attrition rate of 30.53%, nearly three times higher than those who do not work overtime (10.44%). This is a non-obvious insight because overtime is often seen as a sign of dedication or peak demand. However, this data suggests that sustained overtime leads to burnout and dissatisfaction, making these employees significantly more likely to leave. This indicates a potential systemic issue with workload management or staffing levels in certain areas.</a:t>
            </a:r>
          </a:p>
        </p:txBody>
      </p:sp>
    </p:spTree>
    <p:extLst>
      <p:ext uri="{BB962C8B-B14F-4D97-AF65-F5344CB8AC3E}">
        <p14:creationId xmlns:p14="http://schemas.microsoft.com/office/powerpoint/2010/main" val="2287626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4B392-AD47-868D-9E1D-BE0EC365CF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E949F-6686-A98B-B73C-EC0FC0CFC1FD}"/>
              </a:ext>
            </a:extLst>
          </p:cNvPr>
          <p:cNvSpPr>
            <a:spLocks noGrp="1"/>
          </p:cNvSpPr>
          <p:nvPr>
            <p:ph type="title"/>
          </p:nvPr>
        </p:nvSpPr>
        <p:spPr/>
        <p:txBody>
          <a:bodyPr/>
          <a:lstStyle/>
          <a:p>
            <a:r>
              <a:rPr lang="en-US" dirty="0"/>
              <a:t>Key Insights</a:t>
            </a:r>
          </a:p>
        </p:txBody>
      </p:sp>
      <p:sp>
        <p:nvSpPr>
          <p:cNvPr id="3" name="Slide Number Placeholder 2">
            <a:extLst>
              <a:ext uri="{FF2B5EF4-FFF2-40B4-BE49-F238E27FC236}">
                <a16:creationId xmlns:a16="http://schemas.microsoft.com/office/drawing/2014/main" id="{C52B530B-1EA5-C0BE-4F24-36C8338E5B8C}"/>
              </a:ext>
            </a:extLst>
          </p:cNvPr>
          <p:cNvSpPr>
            <a:spLocks noGrp="1"/>
          </p:cNvSpPr>
          <p:nvPr>
            <p:ph type="sldNum" sz="quarter" idx="12"/>
          </p:nvPr>
        </p:nvSpPr>
        <p:spPr/>
        <p:txBody>
          <a:bodyPr/>
          <a:lstStyle/>
          <a:p>
            <a:fld id="{C263D6C4-4840-40CC-AC84-17E24B3B7BDE}" type="slidenum">
              <a:rPr lang="en-US" noProof="0" smtClean="0"/>
              <a:pPr/>
              <a:t>12</a:t>
            </a:fld>
            <a:endParaRPr lang="en-US" noProof="0" dirty="0"/>
          </a:p>
        </p:txBody>
      </p:sp>
      <p:sp>
        <p:nvSpPr>
          <p:cNvPr id="4" name="Text Placeholder 3">
            <a:extLst>
              <a:ext uri="{FF2B5EF4-FFF2-40B4-BE49-F238E27FC236}">
                <a16:creationId xmlns:a16="http://schemas.microsoft.com/office/drawing/2014/main" id="{DC1FEB0D-180B-6C07-C9A5-99D2C9EF1EDA}"/>
              </a:ext>
            </a:extLst>
          </p:cNvPr>
          <p:cNvSpPr>
            <a:spLocks noGrp="1"/>
          </p:cNvSpPr>
          <p:nvPr>
            <p:ph type="body" sz="quarter" idx="13"/>
          </p:nvPr>
        </p:nvSpPr>
        <p:spPr>
          <a:xfrm>
            <a:off x="444500" y="1625385"/>
            <a:ext cx="10442575" cy="4093243"/>
          </a:xfrm>
        </p:spPr>
        <p:txBody>
          <a:bodyPr/>
          <a:lstStyle/>
          <a:p>
            <a:pPr marL="0" indent="0" algn="just">
              <a:buNone/>
            </a:pPr>
            <a:r>
              <a:rPr lang="en-US" b="1" dirty="0"/>
              <a:t>The Paradox of High Performers and Attrition</a:t>
            </a:r>
          </a:p>
          <a:p>
            <a:pPr algn="just"/>
            <a:r>
              <a:rPr lang="en-US" dirty="0"/>
              <a:t>While overall attrition is 16.12%, high performers (those with a Manager Rating of 4 or 5) still show a notable attrition rate of approximately 19.13%. More critically, the average salary for high performers who attrite is significantly lower than that of high performers who stay. This suggests that the organization is losing its top talent, particularly when their compensation does not align with their performance, indicating a potential pay equity or recognition gap for high achievers.</a:t>
            </a:r>
          </a:p>
          <a:p>
            <a:pPr marL="0" indent="0" algn="just">
              <a:lnSpc>
                <a:spcPct val="125000"/>
              </a:lnSpc>
              <a:buNone/>
            </a:pPr>
            <a:endParaRPr lang="en-US" sz="1800" dirty="0"/>
          </a:p>
          <a:p>
            <a:pPr marL="0" indent="0" algn="just">
              <a:buNone/>
            </a:pPr>
            <a:r>
              <a:rPr lang="en-US" b="1" dirty="0"/>
              <a:t>The 'Mid-Career' Attrition Trap</a:t>
            </a:r>
          </a:p>
          <a:p>
            <a:pPr algn="just"/>
            <a:r>
              <a:rPr lang="en-US" dirty="0"/>
              <a:t>The attrition rate is highest among employees in the 25-35 age group (19.52%), followed closely by those under 25 (18.00%). This is a critical period for career development and personal growth. Employees in these age brackets are often seeking rapid advancement, skill development, and competitive compensation. If these expectations are not met, they are more prone to attrition, representing a significant loss of developing talent and institutional knowledge.</a:t>
            </a:r>
          </a:p>
        </p:txBody>
      </p:sp>
    </p:spTree>
    <p:extLst>
      <p:ext uri="{BB962C8B-B14F-4D97-AF65-F5344CB8AC3E}">
        <p14:creationId xmlns:p14="http://schemas.microsoft.com/office/powerpoint/2010/main" val="786285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5A5CF-D4A6-91A5-FBC3-569DE8A93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DEAE07-918B-1630-56B1-F7BB1521D2B5}"/>
              </a:ext>
            </a:extLst>
          </p:cNvPr>
          <p:cNvSpPr>
            <a:spLocks noGrp="1"/>
          </p:cNvSpPr>
          <p:nvPr>
            <p:ph type="title"/>
          </p:nvPr>
        </p:nvSpPr>
        <p:spPr/>
        <p:txBody>
          <a:bodyPr/>
          <a:lstStyle/>
          <a:p>
            <a:r>
              <a:rPr lang="en-US" dirty="0"/>
              <a:t>Key Insights</a:t>
            </a:r>
          </a:p>
        </p:txBody>
      </p:sp>
      <p:sp>
        <p:nvSpPr>
          <p:cNvPr id="3" name="Slide Number Placeholder 2">
            <a:extLst>
              <a:ext uri="{FF2B5EF4-FFF2-40B4-BE49-F238E27FC236}">
                <a16:creationId xmlns:a16="http://schemas.microsoft.com/office/drawing/2014/main" id="{2B1C89D6-3E01-DCA2-A61F-E196FB85EE65}"/>
              </a:ext>
            </a:extLst>
          </p:cNvPr>
          <p:cNvSpPr>
            <a:spLocks noGrp="1"/>
          </p:cNvSpPr>
          <p:nvPr>
            <p:ph type="sldNum" sz="quarter" idx="12"/>
          </p:nvPr>
        </p:nvSpPr>
        <p:spPr/>
        <p:txBody>
          <a:bodyPr/>
          <a:lstStyle/>
          <a:p>
            <a:fld id="{C263D6C4-4840-40CC-AC84-17E24B3B7BDE}" type="slidenum">
              <a:rPr lang="en-US" noProof="0" smtClean="0"/>
              <a:pPr/>
              <a:t>13</a:t>
            </a:fld>
            <a:endParaRPr lang="en-US" noProof="0" dirty="0"/>
          </a:p>
        </p:txBody>
      </p:sp>
      <p:sp>
        <p:nvSpPr>
          <p:cNvPr id="4" name="Text Placeholder 3">
            <a:extLst>
              <a:ext uri="{FF2B5EF4-FFF2-40B4-BE49-F238E27FC236}">
                <a16:creationId xmlns:a16="http://schemas.microsoft.com/office/drawing/2014/main" id="{54C3A5FE-45B8-A820-7DFC-7D38C4D3D6CD}"/>
              </a:ext>
            </a:extLst>
          </p:cNvPr>
          <p:cNvSpPr>
            <a:spLocks noGrp="1"/>
          </p:cNvSpPr>
          <p:nvPr>
            <p:ph type="body" sz="quarter" idx="13"/>
          </p:nvPr>
        </p:nvSpPr>
        <p:spPr>
          <a:xfrm>
            <a:off x="444500" y="1625385"/>
            <a:ext cx="10366375" cy="4093243"/>
          </a:xfrm>
        </p:spPr>
        <p:txBody>
          <a:bodyPr/>
          <a:lstStyle/>
          <a:p>
            <a:pPr marL="0" indent="0" algn="just">
              <a:buNone/>
            </a:pPr>
            <a:r>
              <a:rPr lang="en-US" b="1" dirty="0"/>
              <a:t>Sales Representative and Recruiter are effectively revolving-door roles</a:t>
            </a:r>
          </a:p>
          <a:p>
            <a:pPr algn="just"/>
            <a:r>
              <a:rPr lang="en-US" dirty="0"/>
              <a:t>At ~39% and ~37.5% attrition respectively, almost 1 in 3 employees in these roles leaves every cycle. The irony is that Recruiters — the people responsible for filling talent gaps — face the highest structural risk, likely because they see exactly how undervalued their role is compared to others.</a:t>
            </a:r>
          </a:p>
          <a:p>
            <a:pPr algn="just"/>
            <a:endParaRPr lang="en-US" sz="1800" dirty="0"/>
          </a:p>
          <a:p>
            <a:pPr marL="0" indent="0" algn="just">
              <a:buNone/>
            </a:pPr>
            <a:r>
              <a:rPr lang="en-US" b="1" dirty="0"/>
              <a:t>The Performance Review System has a structural flaw</a:t>
            </a:r>
          </a:p>
          <a:p>
            <a:pPr algn="just"/>
            <a:r>
              <a:rPr lang="en-US" dirty="0"/>
              <a:t>In 6,709 reviews, not a single case exists where a manager rated an employee higher than the employee's self-rating. This isn't a behavioral quirk — it's a systemic pattern that undermines the credibility of the review process for calibration, pay decisions, and promotions.</a:t>
            </a:r>
          </a:p>
        </p:txBody>
      </p:sp>
    </p:spTree>
    <p:extLst>
      <p:ext uri="{BB962C8B-B14F-4D97-AF65-F5344CB8AC3E}">
        <p14:creationId xmlns:p14="http://schemas.microsoft.com/office/powerpoint/2010/main" val="755381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3C266-2C5E-1864-DB16-8FB30AF10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0F3D7-02B5-61D8-BAA3-26A2AEEF9230}"/>
              </a:ext>
            </a:extLst>
          </p:cNvPr>
          <p:cNvSpPr>
            <a:spLocks noGrp="1"/>
          </p:cNvSpPr>
          <p:nvPr>
            <p:ph type="title"/>
          </p:nvPr>
        </p:nvSpPr>
        <p:spPr/>
        <p:txBody>
          <a:bodyPr/>
          <a:lstStyle/>
          <a:p>
            <a:r>
              <a:rPr lang="en-US" dirty="0"/>
              <a:t>Recommendations</a:t>
            </a:r>
          </a:p>
        </p:txBody>
      </p:sp>
      <p:sp>
        <p:nvSpPr>
          <p:cNvPr id="3" name="Slide Number Placeholder 2">
            <a:extLst>
              <a:ext uri="{FF2B5EF4-FFF2-40B4-BE49-F238E27FC236}">
                <a16:creationId xmlns:a16="http://schemas.microsoft.com/office/drawing/2014/main" id="{8C3E1801-364C-4773-3B85-43CE2A169DDC}"/>
              </a:ext>
            </a:extLst>
          </p:cNvPr>
          <p:cNvSpPr>
            <a:spLocks noGrp="1"/>
          </p:cNvSpPr>
          <p:nvPr>
            <p:ph type="sldNum" sz="quarter" idx="12"/>
          </p:nvPr>
        </p:nvSpPr>
        <p:spPr/>
        <p:txBody>
          <a:bodyPr/>
          <a:lstStyle/>
          <a:p>
            <a:fld id="{C263D6C4-4840-40CC-AC84-17E24B3B7BDE}" type="slidenum">
              <a:rPr lang="en-US" noProof="0" smtClean="0"/>
              <a:pPr/>
              <a:t>14</a:t>
            </a:fld>
            <a:endParaRPr lang="en-US" noProof="0" dirty="0"/>
          </a:p>
        </p:txBody>
      </p:sp>
      <p:sp>
        <p:nvSpPr>
          <p:cNvPr id="4" name="Text Placeholder 3">
            <a:extLst>
              <a:ext uri="{FF2B5EF4-FFF2-40B4-BE49-F238E27FC236}">
                <a16:creationId xmlns:a16="http://schemas.microsoft.com/office/drawing/2014/main" id="{DDDD23B3-82EA-DBBB-2F10-49DF0CDDDEF4}"/>
              </a:ext>
            </a:extLst>
          </p:cNvPr>
          <p:cNvSpPr>
            <a:spLocks noGrp="1"/>
          </p:cNvSpPr>
          <p:nvPr>
            <p:ph type="body" sz="quarter" idx="13"/>
          </p:nvPr>
        </p:nvSpPr>
        <p:spPr>
          <a:xfrm>
            <a:off x="444500" y="1625385"/>
            <a:ext cx="11214100" cy="4093243"/>
          </a:xfrm>
        </p:spPr>
        <p:txBody>
          <a:bodyPr/>
          <a:lstStyle/>
          <a:p>
            <a:pPr marL="0" indent="0" algn="justLow">
              <a:buNone/>
            </a:pPr>
            <a:r>
              <a:rPr lang="en-US" b="1" dirty="0"/>
              <a:t>Implement a Proactive Promotion and Career Development Program: </a:t>
            </a:r>
          </a:p>
          <a:p>
            <a:pPr marL="0" indent="0" algn="justLow">
              <a:buNone/>
            </a:pPr>
            <a:r>
              <a:rPr lang="en-US" dirty="0"/>
              <a:t>Focus on employees with 0-1 years since their last promotion, especially those in the 25-35 age group. This could involve mentorship programs, clear career pathing, and regular check-ins to discuss growth opportunities. Consider a “promotion readiness” assessment to identify and fast-track deserving individuals.</a:t>
            </a:r>
          </a:p>
          <a:p>
            <a:pPr marL="0" indent="0" algn="justLow">
              <a:buNone/>
            </a:pPr>
            <a:endParaRPr lang="en-US" dirty="0"/>
          </a:p>
          <a:p>
            <a:pPr marL="0" indent="0" algn="justLow">
              <a:buNone/>
            </a:pPr>
            <a:r>
              <a:rPr lang="en-US" b="1" dirty="0"/>
              <a:t>Optimize Workload and Overtime Management: </a:t>
            </a:r>
          </a:p>
          <a:p>
            <a:pPr marL="0" indent="0" algn="justLow">
              <a:buNone/>
            </a:pPr>
            <a:r>
              <a:rPr lang="en-US" dirty="0"/>
              <a:t>Investigate departments and roles with high overtime rates. This may require re-evaluating staffing levels, improving process efficiencies, or implementing stricter policies around mandatory overtime to prevent burnout and reduce attrition.</a:t>
            </a:r>
          </a:p>
          <a:p>
            <a:pPr marL="0" indent="0" algn="justLow">
              <a:buNone/>
            </a:pPr>
            <a:endParaRPr lang="en-US" dirty="0"/>
          </a:p>
          <a:p>
            <a:pPr marL="0" indent="0" algn="justLow">
              <a:buNone/>
            </a:pPr>
            <a:r>
              <a:rPr lang="en-US" b="1" dirty="0"/>
              <a:t>Review Compensation and Recognition for High Performers: </a:t>
            </a:r>
          </a:p>
          <a:p>
            <a:pPr marL="0" indent="0" algn="justLow">
              <a:buNone/>
            </a:pPr>
            <a:r>
              <a:rPr lang="en-US" dirty="0"/>
              <a:t>Conduct a comprehensive review of salary bands and bonus structures for high-performing employees. Ensure that compensation is competitive and aligned with market rates and individual contributions to retain top talent. Implement non-monetary recognition programs to boost morale and loyalty.</a:t>
            </a:r>
          </a:p>
        </p:txBody>
      </p:sp>
    </p:spTree>
    <p:extLst>
      <p:ext uri="{BB962C8B-B14F-4D97-AF65-F5344CB8AC3E}">
        <p14:creationId xmlns:p14="http://schemas.microsoft.com/office/powerpoint/2010/main" val="859145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F1AD2-1852-9FC0-3288-D6C01F099C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B5AE7-8E19-B8E3-6F83-8CD5A6CA14BA}"/>
              </a:ext>
            </a:extLst>
          </p:cNvPr>
          <p:cNvSpPr>
            <a:spLocks noGrp="1"/>
          </p:cNvSpPr>
          <p:nvPr>
            <p:ph type="title"/>
          </p:nvPr>
        </p:nvSpPr>
        <p:spPr/>
        <p:txBody>
          <a:bodyPr/>
          <a:lstStyle/>
          <a:p>
            <a:r>
              <a:rPr lang="en-US" dirty="0"/>
              <a:t>Recommendations</a:t>
            </a:r>
          </a:p>
        </p:txBody>
      </p:sp>
      <p:sp>
        <p:nvSpPr>
          <p:cNvPr id="3" name="Slide Number Placeholder 2">
            <a:extLst>
              <a:ext uri="{FF2B5EF4-FFF2-40B4-BE49-F238E27FC236}">
                <a16:creationId xmlns:a16="http://schemas.microsoft.com/office/drawing/2014/main" id="{0D98F4D5-E5E7-88A8-6468-FD80D860244B}"/>
              </a:ext>
            </a:extLst>
          </p:cNvPr>
          <p:cNvSpPr>
            <a:spLocks noGrp="1"/>
          </p:cNvSpPr>
          <p:nvPr>
            <p:ph type="sldNum" sz="quarter" idx="12"/>
          </p:nvPr>
        </p:nvSpPr>
        <p:spPr/>
        <p:txBody>
          <a:bodyPr/>
          <a:lstStyle/>
          <a:p>
            <a:fld id="{C263D6C4-4840-40CC-AC84-17E24B3B7BDE}" type="slidenum">
              <a:rPr lang="en-US" noProof="0" smtClean="0"/>
              <a:pPr/>
              <a:t>15</a:t>
            </a:fld>
            <a:endParaRPr lang="en-US" noProof="0" dirty="0"/>
          </a:p>
        </p:txBody>
      </p:sp>
      <p:sp>
        <p:nvSpPr>
          <p:cNvPr id="4" name="Text Placeholder 3">
            <a:extLst>
              <a:ext uri="{FF2B5EF4-FFF2-40B4-BE49-F238E27FC236}">
                <a16:creationId xmlns:a16="http://schemas.microsoft.com/office/drawing/2014/main" id="{6441A939-FEF3-859D-06AD-F79DB6C7BE90}"/>
              </a:ext>
            </a:extLst>
          </p:cNvPr>
          <p:cNvSpPr>
            <a:spLocks noGrp="1"/>
          </p:cNvSpPr>
          <p:nvPr>
            <p:ph type="body" sz="quarter" idx="13"/>
          </p:nvPr>
        </p:nvSpPr>
        <p:spPr>
          <a:xfrm>
            <a:off x="444500" y="1625385"/>
            <a:ext cx="11214100" cy="4093243"/>
          </a:xfrm>
        </p:spPr>
        <p:txBody>
          <a:bodyPr/>
          <a:lstStyle/>
          <a:p>
            <a:pPr marL="0" indent="0" algn="justLow">
              <a:buNone/>
            </a:pPr>
            <a:r>
              <a:rPr lang="en-US" b="1" dirty="0"/>
              <a:t>Enhance Employee Experience and Engagement: </a:t>
            </a:r>
          </a:p>
          <a:p>
            <a:pPr marL="0" indent="0" algn="justLow">
              <a:buNone/>
            </a:pPr>
            <a:r>
              <a:rPr lang="en-US" dirty="0"/>
              <a:t>Address the subtle decline in environment satisfaction and manager ratings. This could involve conducting targeted pulse surveys, improving workplace facilities, fostering a more positive work culture, and providing training for managers on effective feedback and support.</a:t>
            </a:r>
          </a:p>
          <a:p>
            <a:pPr marL="0" indent="0" algn="justLow">
              <a:buNone/>
            </a:pPr>
            <a:endParaRPr lang="en-US" dirty="0"/>
          </a:p>
          <a:p>
            <a:pPr marL="0" indent="0" algn="justLow">
              <a:buNone/>
            </a:pPr>
            <a:r>
              <a:rPr lang="en-US" b="1" dirty="0"/>
              <a:t>Deep Dive into Long-Tenured, Non-Promoted Employees: </a:t>
            </a:r>
          </a:p>
          <a:p>
            <a:pPr marL="0" indent="0" algn="justLow">
              <a:buNone/>
            </a:pPr>
            <a:r>
              <a:rPr lang="en-US" dirty="0"/>
              <a:t>Investigate the motivations and satisfaction drivers of employees with 10+ years since their last promotion who exhibit low attrition. Understanding this segment can provide valuable insights into alternative retention strategies beyond traditional promotions.</a:t>
            </a:r>
          </a:p>
        </p:txBody>
      </p:sp>
    </p:spTree>
    <p:extLst>
      <p:ext uri="{BB962C8B-B14F-4D97-AF65-F5344CB8AC3E}">
        <p14:creationId xmlns:p14="http://schemas.microsoft.com/office/powerpoint/2010/main" val="1869864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138</TotalTime>
  <Words>1586</Words>
  <Application>Microsoft Office PowerPoint</Application>
  <PresentationFormat>Widescreen</PresentationFormat>
  <Paragraphs>112</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Trade Gothic LT Pro</vt:lpstr>
      <vt:lpstr>Trebuchet MS</vt:lpstr>
      <vt:lpstr>Office Theme</vt:lpstr>
      <vt:lpstr>HR Attrition Analytics</vt:lpstr>
      <vt:lpstr>Work Team</vt:lpstr>
      <vt:lpstr>Project Steps</vt:lpstr>
      <vt:lpstr>Problem Statement</vt:lpstr>
      <vt:lpstr>Data Exploration</vt:lpstr>
      <vt:lpstr>Key DAX Measures</vt:lpstr>
      <vt:lpstr>Data Modelling</vt:lpstr>
      <vt:lpstr>Significant KPIs</vt:lpstr>
      <vt:lpstr>Anomalies</vt:lpstr>
      <vt:lpstr>Business Implications</vt:lpstr>
      <vt:lpstr>Key Insights</vt:lpstr>
      <vt:lpstr>Key Insights</vt:lpstr>
      <vt:lpstr>Key Insights</vt:lpstr>
      <vt:lpstr>Recommendations</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Mustafa Zaky</dc:creator>
  <cp:lastModifiedBy>Mustafa Zaky</cp:lastModifiedBy>
  <cp:revision>9</cp:revision>
  <dcterms:created xsi:type="dcterms:W3CDTF">2026-05-15T06:02:47Z</dcterms:created>
  <dcterms:modified xsi:type="dcterms:W3CDTF">2026-05-15T08:29:48Z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